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정책 근거: https://www.mw.go.kr/menu.es?mid=a60100000000 ; https://www.law.go.kr/lsInfoP.do?lsiSeq=261447&amp;viewCls=lsRvsDocInfoR ; https://www.korea.kr/news/policyNewsView.do?newsId=148961536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정책 근거: https://www.mw.go.kr/menu.es?mid=a60100000000 ; https://www.law.go.kr/lsInfoP.do?lsiSeq=261447&amp;viewCls=lsRvsDocInfoR ; https://www.korea.kr/news/policyNewsView.do?newsId=148961536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명칭: 사용자 제공 목록 기반. 지역별 실제 서비스 운영 여부와 지원 기준 확인 필요. 국가 제도 안내: https://www.mw.go.kr/menu.es?mid=a60100000000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정책 근거: https://www.mw.go.kr/menu.es?mid=a60100000000 ; https://www.law.go.kr/lsInfoP.do?lsiSeq=261447&amp;viewCls=lsRvsDocInfoR ; https://www.korea.kr/news/policyNewsView.do?newsId=148961536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3547872" cy="6858000"/>
          </a:xfrm>
          <a:prstGeom prst="rect">
            <a:avLst/>
          </a:prstGeom>
          <a:solidFill>
            <a:srgbClr val="214566"/>
          </a:solidFill>
          <a:ln w="12700">
            <a:solidFill>
              <a:srgbClr val="2145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777240"/>
            <a:ext cx="1645920" cy="1645920"/>
          </a:xfrm>
          <a:prstGeom prst="roundRect">
            <a:avLst>
              <a:gd name="adj" fmla="val 16667"/>
            </a:avLst>
          </a:prstGeom>
          <a:solidFill>
            <a:srgbClr val="2D5875"/>
          </a:solidFill>
          <a:ln w="12700">
            <a:solidFill>
              <a:srgbClr val="2D587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3429000"/>
            <a:ext cx="2834640" cy="1325880"/>
          </a:xfrm>
          <a:prstGeom prst="roundRect">
            <a:avLst>
              <a:gd name="adj" fmla="val 20690"/>
            </a:avLst>
          </a:prstGeom>
          <a:solidFill>
            <a:srgbClr val="2D5875"/>
          </a:solidFill>
          <a:ln w="12700">
            <a:solidFill>
              <a:srgbClr val="2D587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789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7DDB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CITY  · 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920240"/>
            <a:ext cx="9418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통합돌봄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749808" y="425196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9E9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살던 곳에서 누리는 의료·요양·돌봄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9808" y="5330952"/>
            <a:ext cx="2743200" cy="64008"/>
          </a:xfrm>
          <a:prstGeom prst="rect">
            <a:avLst/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FC9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소개  |  정책 보고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76B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 |  INTEGRATED CARE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추진 배경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통합돌봄인가?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6364224"/>
            <a:ext cx="10881360" cy="0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6768" y="6473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441448"/>
            <a:ext cx="3593592" cy="2423160"/>
          </a:xfrm>
          <a:prstGeom prst="roundRect">
            <a:avLst>
              <a:gd name="adj" fmla="val 5283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791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79A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3649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초고령사회 진입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4050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의료·요양·돌봄 수요 증가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98848" y="2441448"/>
            <a:ext cx="3593592" cy="2423160"/>
          </a:xfrm>
          <a:prstGeom prst="roundRect">
            <a:avLst>
              <a:gd name="adj" fmla="val 5283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6791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79A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33649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분절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754880" y="4050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기관별 지원으로 연계 필요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39328" y="2441448"/>
            <a:ext cx="3593592" cy="2423160"/>
          </a:xfrm>
          <a:prstGeom prst="roundRect">
            <a:avLst>
              <a:gd name="adj" fmla="val 5283"/>
            </a:avLst>
          </a:prstGeom>
          <a:solidFill>
            <a:srgbClr val="EAF5F5"/>
          </a:solidFill>
          <a:ln w="12700">
            <a:solidFill>
              <a:srgbClr val="EAF5F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6791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79A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95360" y="33649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 계속 거주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595360" y="4050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살던 곳에서 건강한 삶 지원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" y="52578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6B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3. 27. 「돌봄통합지원법」 시행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76B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 |  INTEGRATED CARE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지원내용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서비스를 하나의 지원계획으로 연계합니다.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6364224"/>
            <a:ext cx="10881360" cy="0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6768" y="6473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" y="2404872"/>
            <a:ext cx="2176272" cy="22860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660904"/>
            <a:ext cx="521208" cy="521208"/>
          </a:xfrm>
          <a:prstGeom prst="roundRect">
            <a:avLst>
              <a:gd name="adj" fmla="val 24561"/>
            </a:avLst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79192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34381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신청·발굴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" y="39319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돌봄 필요 대상자 확인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2944368" y="2404872"/>
            <a:ext cx="2176272" cy="22860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3824" y="2660904"/>
            <a:ext cx="521208" cy="521208"/>
          </a:xfrm>
          <a:prstGeom prst="roundRect">
            <a:avLst>
              <a:gd name="adj" fmla="val 24561"/>
            </a:avLst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3824" y="2679192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154680" y="34381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종합판정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54680" y="39319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건강·생활·주거 욕구 파악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285232" y="2404872"/>
            <a:ext cx="2176272" cy="22860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04688" y="2660904"/>
            <a:ext cx="521208" cy="521208"/>
          </a:xfrm>
          <a:prstGeom prst="roundRect">
            <a:avLst>
              <a:gd name="adj" fmla="val 24561"/>
            </a:avLst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2679192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495544" y="34381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개인별 계획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95544" y="39319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지원계획 수립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626096" y="2404872"/>
            <a:ext cx="2176272" cy="2286000"/>
          </a:xfrm>
          <a:prstGeom prst="roundRect">
            <a:avLst>
              <a:gd name="adj" fmla="val 5882"/>
            </a:avLst>
          </a:prstGeom>
          <a:solidFill>
            <a:srgbClr val="EAF5F5"/>
          </a:solidFill>
          <a:ln w="12700">
            <a:solidFill>
              <a:srgbClr val="EAF5F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45552" y="2660904"/>
            <a:ext cx="521208" cy="521208"/>
          </a:xfrm>
          <a:prstGeom prst="roundRect">
            <a:avLst>
              <a:gd name="adj" fmla="val 24561"/>
            </a:avLst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45552" y="2679192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836408" y="34381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연계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36408" y="39319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의료·요양·돌봄 통합지원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9966960" y="2404872"/>
            <a:ext cx="2176272" cy="22860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86416" y="2660904"/>
            <a:ext cx="521208" cy="521208"/>
          </a:xfrm>
          <a:prstGeom prst="roundRect">
            <a:avLst>
              <a:gd name="adj" fmla="val 24561"/>
            </a:avLst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86416" y="2679192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0177272" y="34381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177272" y="39319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변화에 따른 조정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658368" y="52395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6B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개별 서비스의 단순 제공이 아닌 지속적인 통합관리입니다.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76B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 |  INTEGRATED CARE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통합돌봄 대상자 지원 혜택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노인·장애인의 건강, 일상생활, 주거까지 통합 지원합니다.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6364224"/>
            <a:ext cx="10881360" cy="0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6768" y="6473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295144"/>
            <a:ext cx="3547872" cy="3182112"/>
          </a:xfrm>
          <a:prstGeom prst="roundRect">
            <a:avLst>
              <a:gd name="adj" fmla="val 4023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295144"/>
            <a:ext cx="3547872" cy="585216"/>
          </a:xfrm>
          <a:prstGeom prst="roundRect">
            <a:avLst>
              <a:gd name="adj" fmla="val 21875"/>
            </a:avLst>
          </a:prstGeom>
          <a:solidFill>
            <a:srgbClr val="176B9B"/>
          </a:solidFill>
          <a:ln w="12700">
            <a:solidFill>
              <a:srgbClr val="176B9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41401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의료·건강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3182112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53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방문의료 · 예방의료 · 한의진료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859536" y="3813048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53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방문운동 · 복약관리 · 구강건강관리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4343400" y="2295144"/>
            <a:ext cx="3547872" cy="3182112"/>
          </a:xfrm>
          <a:prstGeom prst="roundRect">
            <a:avLst>
              <a:gd name="adj" fmla="val 4023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295144"/>
            <a:ext cx="3547872" cy="585216"/>
          </a:xfrm>
          <a:prstGeom prst="roundRect">
            <a:avLst>
              <a:gd name="adj" fmla="val 21875"/>
            </a:avLst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41401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일상생활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44568" y="3182112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53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방문가사 · 외출동행(병원동행)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4544568" y="3813048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53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영양지원(도시락 배달)</a:t>
            </a:r>
            <a:endParaRPr lang="en-US" sz="1360" dirty="0"/>
          </a:p>
        </p:txBody>
      </p:sp>
      <p:sp>
        <p:nvSpPr>
          <p:cNvPr id="19" name="Shape 17"/>
          <p:cNvSpPr/>
          <p:nvPr/>
        </p:nvSpPr>
        <p:spPr>
          <a:xfrm>
            <a:off x="8028432" y="2295144"/>
            <a:ext cx="3547872" cy="3182112"/>
          </a:xfrm>
          <a:prstGeom prst="roundRect">
            <a:avLst>
              <a:gd name="adj" fmla="val 4023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28432" y="2295144"/>
            <a:ext cx="3547872" cy="585216"/>
          </a:xfrm>
          <a:prstGeom prst="roundRect">
            <a:avLst>
              <a:gd name="adj" fmla="val 21875"/>
            </a:avLst>
          </a:prstGeom>
          <a:solidFill>
            <a:srgbClr val="173454"/>
          </a:solidFill>
          <a:ln w="12700">
            <a:solidFill>
              <a:srgbClr val="17345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241401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주거·지원체계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29600" y="3182112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53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주거환경개선 · 웰빙홈컨설팅</a:t>
            </a:r>
            <a:endParaRPr lang="en-US" sz="1360" dirty="0"/>
          </a:p>
        </p:txBody>
      </p:sp>
      <p:sp>
        <p:nvSpPr>
          <p:cNvPr id="23" name="Text 21"/>
          <p:cNvSpPr/>
          <p:nvPr/>
        </p:nvSpPr>
        <p:spPr>
          <a:xfrm>
            <a:off x="8229600" y="3813048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53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천안시통합돌봄센터</a:t>
            </a:r>
            <a:endParaRPr lang="en-US" sz="1360" dirty="0"/>
          </a:p>
        </p:txBody>
      </p:sp>
      <p:sp>
        <p:nvSpPr>
          <p:cNvPr id="24" name="Text 22"/>
          <p:cNvSpPr/>
          <p:nvPr/>
        </p:nvSpPr>
        <p:spPr>
          <a:xfrm>
            <a:off x="8229600" y="4443984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53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중간집(케어안심주택)</a:t>
            </a:r>
            <a:endParaRPr lang="en-US" sz="1360" dirty="0"/>
          </a:p>
        </p:txBody>
      </p:sp>
      <p:sp>
        <p:nvSpPr>
          <p:cNvPr id="25" name="Text 23"/>
          <p:cNvSpPr/>
          <p:nvPr/>
        </p:nvSpPr>
        <p:spPr>
          <a:xfrm>
            <a:off x="667512" y="5687568"/>
            <a:ext cx="10607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서비스는 대상자의 필요도 및 개별 지원계획에 따라 연계합니다.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76B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 |  INTEGRATED CARE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일상생활의 안정과 지역사회 계속 거주를 지원합니다.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6364224"/>
            <a:ext cx="10881360" cy="0"/>
          </a:xfrm>
          <a:prstGeom prst="line">
            <a:avLst/>
          </a:prstGeom>
          <a:noFill/>
          <a:ln w="12700">
            <a:solidFill>
              <a:srgbClr val="DC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6768" y="6473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76656" y="2258568"/>
            <a:ext cx="10863072" cy="950976"/>
          </a:xfrm>
          <a:prstGeom prst="roundRect">
            <a:avLst>
              <a:gd name="adj" fmla="val 13462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258568"/>
            <a:ext cx="118872" cy="950976"/>
          </a:xfrm>
          <a:prstGeom prst="rect">
            <a:avLst/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487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유지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904488" y="2496312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3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예방·재택 중심 관리 강화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6656" y="3401568"/>
            <a:ext cx="10863072" cy="950976"/>
          </a:xfrm>
          <a:prstGeom prst="roundRect">
            <a:avLst>
              <a:gd name="adj" fmla="val 13462"/>
            </a:avLst>
          </a:prstGeom>
          <a:solidFill>
            <a:srgbClr val="EAF5F5"/>
          </a:solidFill>
          <a:ln w="12700">
            <a:solidFill>
              <a:srgbClr val="EAF5F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401568"/>
            <a:ext cx="118872" cy="950976"/>
          </a:xfrm>
          <a:prstGeom prst="rect">
            <a:avLst/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630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돌봄 부담 완화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904488" y="3639312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3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지원과 서비스 접근성 개선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6656" y="4544568"/>
            <a:ext cx="10863072" cy="950976"/>
          </a:xfrm>
          <a:prstGeom prst="roundRect">
            <a:avLst>
              <a:gd name="adj" fmla="val 13462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4544568"/>
            <a:ext cx="118872" cy="950976"/>
          </a:xfrm>
          <a:prstGeom prst="rect">
            <a:avLst/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4773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3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 정착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904488" y="4782312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53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입원·입소 예방 기대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" y="599846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내용은 정책 추진에 따른 기대효과이며, 실적 수치는 별도 확인이 필요합니다.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3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060704"/>
            <a:ext cx="914400" cy="73152"/>
          </a:xfrm>
          <a:prstGeom prst="rect">
            <a:avLst/>
          </a:prstGeom>
          <a:solidFill>
            <a:srgbClr val="079A91"/>
          </a:solidFill>
          <a:ln w="12700">
            <a:solidFill>
              <a:srgbClr val="079A9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874520"/>
            <a:ext cx="107899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돌보는 천안,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살던 곳에서 이어지는 건강한 일상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77240" y="42519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BDDB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시민 중심 · 지역사회 중심 · 통합지원 중심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86384" y="605332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DD8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천안시 의료요양 통합돌봄</dc:title>
  <dc:subject>천안시 의료요양 통합돌봄 사업 소개</dc:subject>
  <dc:creator>OpenAI</dc:creator>
  <cp:lastModifiedBy>OpenAI</cp:lastModifiedBy>
  <cp:revision>1</cp:revision>
  <dcterms:created xsi:type="dcterms:W3CDTF">2026-10-30T05:55:52Z</dcterms:created>
  <dcterms:modified xsi:type="dcterms:W3CDTF">2026-10-30T05:55:52Z</dcterms:modified>
</cp:coreProperties>
</file>