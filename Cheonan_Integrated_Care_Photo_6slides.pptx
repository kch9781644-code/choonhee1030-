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제공 이미지와 서비스 목록을 바탕으로 만든 정책 소개 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복합적 지원이 필요한 사람의 관점에서 의료, 일상, 주거 서비스를 연결하는 정책 방향을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발굴·신청 → 욕구 확인 → 지원계획 → 서비스 연계 → 사후 점검은 이해를 돕기 위한 개념적 예시입니다. 천안시 실제 절차와 담당기구 확인이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사용자가 제공한 13개 서비스 및 지원체계 항목을 모두 반영했습니다. 서비스 시행 여부, 대상, 이용 절차 등의 최신 정보는 사업 시행지침이나 담당 부서에서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성과 수치가 아닌 정책의 기대효과입니다. 실적은 추후 별도 지표로 확인해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천안시 통합돌봄의 메시지: 살던 곳에서 건강하고 안전하게 생활할 수 있도록 의료, 요양, 돌봄, 주거를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29768"/>
            <a:ext cx="5394960" cy="5394960"/>
          </a:xfrm>
          <a:prstGeom prst="ellipse">
            <a:avLst/>
          </a:prstGeom>
          <a:solidFill>
            <a:srgbClr val="E7F1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77272" y="731520"/>
            <a:ext cx="530352" cy="530352"/>
          </a:xfrm>
          <a:prstGeom prst="ellipse">
            <a:avLst/>
          </a:prstGeom>
          <a:solidFill>
            <a:srgbClr val="DAA05D">
              <a:alpha val="31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498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10" b="1" spc="30" kern="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1610" dirty="0"/>
          </a:p>
        </p:txBody>
      </p:sp>
      <p:sp>
        <p:nvSpPr>
          <p:cNvPr id="5" name="Shape 3"/>
          <p:cNvSpPr/>
          <p:nvPr/>
        </p:nvSpPr>
        <p:spPr>
          <a:xfrm>
            <a:off x="777240" y="1271016"/>
            <a:ext cx="603504" cy="50292"/>
          </a:xfrm>
          <a:prstGeom prst="rect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9344"/>
            <a:ext cx="5715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6000"/>
              </a:lnSpc>
              <a:buNone/>
            </a:pPr>
            <a:r>
              <a:rPr lang="en-US" sz="380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돌봄을 잇고,</a:t>
            </a:r>
            <a:endParaRPr lang="en-US" sz="3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80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일상을 지키다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04672" y="384048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10" dirty="0">
                <a:solidFill>
                  <a:srgbClr val="4A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살던 곳에서 누리는</a:t>
            </a:r>
            <a:endParaRPr lang="en-US" sz="1810" dirty="0"/>
          </a:p>
          <a:p>
            <a:pPr indent="0" marL="0">
              <a:buNone/>
            </a:pPr>
            <a:r>
              <a:rPr lang="en-US" sz="1810" dirty="0">
                <a:solidFill>
                  <a:srgbClr val="4A68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의료·요양·돌봄·주거 지원</a:t>
            </a:r>
            <a:endParaRPr lang="en-US" sz="1810" dirty="0"/>
          </a:p>
        </p:txBody>
      </p:sp>
      <p:sp>
        <p:nvSpPr>
          <p:cNvPr id="8" name="Shape 6"/>
          <p:cNvSpPr/>
          <p:nvPr/>
        </p:nvSpPr>
        <p:spPr>
          <a:xfrm>
            <a:off x="777240" y="5294376"/>
            <a:ext cx="3794760" cy="566928"/>
          </a:xfrm>
          <a:prstGeom prst="roundRect">
            <a:avLst>
              <a:gd name="adj" fmla="val 27419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5468112"/>
            <a:ext cx="3374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통합돌봄 정책 소개</a:t>
            </a:r>
            <a:endParaRPr lang="en-US" sz="1350" dirty="0"/>
          </a:p>
        </p:txBody>
      </p:sp>
      <p:pic>
        <p:nvPicPr>
          <p:cNvPr id="10" name="Image 0" descr="/mnt/data/따뜻한 통합 재가돌봄 서비스 현장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57300"/>
            <a:ext cx="6839712" cy="51297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6364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28A8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 / 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84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2354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2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정책 추진 배경</a:t>
            </a:r>
            <a:endParaRPr lang="en-US" sz="2920" dirty="0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76072" cy="50292"/>
          </a:xfrm>
          <a:prstGeom prst="rect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69380"/>
            <a:ext cx="1075334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B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3796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990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61904" y="651052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185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 / 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복합적인 돌봄 수요, 서비스는 하나로 연결되어야 합니다.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731520" y="2551176"/>
            <a:ext cx="10241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건강·일상·주거의 어려움은 서로 맞닿아 있습니다.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768096" y="3337560"/>
            <a:ext cx="3374136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" y="3685032"/>
            <a:ext cx="758952" cy="758952"/>
          </a:xfrm>
          <a:prstGeom prst="ellipse">
            <a:avLst/>
          </a:prstGeom>
          <a:solidFill>
            <a:srgbClr val="E7F2E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8907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69417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3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의료·건강</a:t>
            </a:r>
            <a:endParaRPr lang="en-US" sz="2030" dirty="0"/>
          </a:p>
        </p:txBody>
      </p:sp>
      <p:sp>
        <p:nvSpPr>
          <p:cNvPr id="15" name="Text 13"/>
          <p:cNvSpPr/>
          <p:nvPr/>
        </p:nvSpPr>
        <p:spPr>
          <a:xfrm>
            <a:off x="1920240" y="41605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진료와 예방 관리</a:t>
            </a:r>
            <a:endParaRPr lang="en-US" sz="1530" dirty="0"/>
          </a:p>
        </p:txBody>
      </p:sp>
      <p:sp>
        <p:nvSpPr>
          <p:cNvPr id="16" name="Shape 14"/>
          <p:cNvSpPr/>
          <p:nvPr/>
        </p:nvSpPr>
        <p:spPr>
          <a:xfrm>
            <a:off x="4617720" y="3337560"/>
            <a:ext cx="3374136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3685032"/>
            <a:ext cx="758952" cy="758952"/>
          </a:xfrm>
          <a:prstGeom prst="ellipse">
            <a:avLst/>
          </a:prstGeom>
          <a:solidFill>
            <a:srgbClr val="ECF2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38907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9864" y="369417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3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일상생활</a:t>
            </a:r>
            <a:endParaRPr lang="en-US" sz="2030" dirty="0"/>
          </a:p>
        </p:txBody>
      </p:sp>
      <p:sp>
        <p:nvSpPr>
          <p:cNvPr id="20" name="Text 18"/>
          <p:cNvSpPr/>
          <p:nvPr/>
        </p:nvSpPr>
        <p:spPr>
          <a:xfrm>
            <a:off x="5769864" y="41605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가사·이동·영양 지원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8467344" y="3337560"/>
            <a:ext cx="3374136" cy="1572768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14232" y="3685032"/>
            <a:ext cx="758952" cy="758952"/>
          </a:xfrm>
          <a:prstGeom prst="ellipse">
            <a:avLst/>
          </a:prstGeom>
          <a:solidFill>
            <a:srgbClr val="F6F0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1392" y="38907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6C3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19488" y="3694176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3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 안전</a:t>
            </a:r>
            <a:endParaRPr lang="en-US" sz="2030" dirty="0"/>
          </a:p>
        </p:txBody>
      </p:sp>
      <p:sp>
        <p:nvSpPr>
          <p:cNvPr id="25" name="Text 23"/>
          <p:cNvSpPr/>
          <p:nvPr/>
        </p:nvSpPr>
        <p:spPr>
          <a:xfrm>
            <a:off x="9619488" y="4160520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안전한 생활환경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1490472" y="5376672"/>
            <a:ext cx="9180576" cy="630936"/>
          </a:xfrm>
          <a:prstGeom prst="roundRect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64208" y="5568696"/>
            <a:ext cx="8833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지원의 중심을 ‘서비스’에서 ‘사람’으로</a:t>
            </a:r>
            <a:endParaRPr lang="en-US" sz="1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84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SERVICE DELIVERY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2354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2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지원내용</a:t>
            </a:r>
            <a:endParaRPr lang="en-US" sz="2920" dirty="0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76072" cy="50292"/>
          </a:xfrm>
          <a:prstGeom prst="rect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69380"/>
            <a:ext cx="1075334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B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3796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990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61904" y="651052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185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 / 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751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상담에서 사후관리까지, 개인별 필요에 맞춰 연계합니다.</a:t>
            </a:r>
            <a:endParaRPr lang="en-US" sz="223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서비스를 따로 찾지 않도록 지원 흐름을 연결합니다.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335024" y="4005072"/>
            <a:ext cx="955548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B9D7C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371600" y="3465576"/>
            <a:ext cx="1051560" cy="1051560"/>
          </a:xfrm>
          <a:prstGeom prst="ellipse">
            <a:avLst/>
          </a:prstGeom>
          <a:solidFill>
            <a:srgbClr val="E8F2EC"/>
          </a:solidFill>
          <a:ln w="19050">
            <a:solidFill>
              <a:srgbClr val="C7DF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379476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980" dirty="0"/>
          </a:p>
        </p:txBody>
      </p:sp>
      <p:sp>
        <p:nvSpPr>
          <p:cNvPr id="14" name="Text 12"/>
          <p:cNvSpPr/>
          <p:nvPr/>
        </p:nvSpPr>
        <p:spPr>
          <a:xfrm>
            <a:off x="932688" y="4846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발굴·신청</a:t>
            </a:r>
            <a:endParaRPr lang="en-US" sz="1890" dirty="0"/>
          </a:p>
        </p:txBody>
      </p:sp>
      <p:sp>
        <p:nvSpPr>
          <p:cNvPr id="15" name="Shape 13"/>
          <p:cNvSpPr/>
          <p:nvPr/>
        </p:nvSpPr>
        <p:spPr>
          <a:xfrm>
            <a:off x="3666744" y="3465576"/>
            <a:ext cx="1051560" cy="1051560"/>
          </a:xfrm>
          <a:prstGeom prst="ellipse">
            <a:avLst/>
          </a:prstGeom>
          <a:solidFill>
            <a:srgbClr val="E8F2EC"/>
          </a:solidFill>
          <a:ln w="19050">
            <a:solidFill>
              <a:srgbClr val="C7DF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79476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3227832" y="4846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욕구 확인</a:t>
            </a:r>
            <a:endParaRPr lang="en-US" sz="1890" dirty="0"/>
          </a:p>
        </p:txBody>
      </p:sp>
      <p:sp>
        <p:nvSpPr>
          <p:cNvPr id="18" name="Shape 16"/>
          <p:cNvSpPr/>
          <p:nvPr/>
        </p:nvSpPr>
        <p:spPr>
          <a:xfrm>
            <a:off x="5961888" y="3465576"/>
            <a:ext cx="1051560" cy="1051560"/>
          </a:xfrm>
          <a:prstGeom prst="ellipse">
            <a:avLst/>
          </a:prstGeom>
          <a:solidFill>
            <a:srgbClr val="E8F2EC"/>
          </a:solidFill>
          <a:ln w="19050">
            <a:solidFill>
              <a:srgbClr val="C7DF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379476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980" dirty="0"/>
          </a:p>
        </p:txBody>
      </p:sp>
      <p:sp>
        <p:nvSpPr>
          <p:cNvPr id="20" name="Text 18"/>
          <p:cNvSpPr/>
          <p:nvPr/>
        </p:nvSpPr>
        <p:spPr>
          <a:xfrm>
            <a:off x="5522976" y="4846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지원계획</a:t>
            </a:r>
            <a:endParaRPr lang="en-US" sz="1890" dirty="0"/>
          </a:p>
        </p:txBody>
      </p:sp>
      <p:sp>
        <p:nvSpPr>
          <p:cNvPr id="21" name="Shape 19"/>
          <p:cNvSpPr/>
          <p:nvPr/>
        </p:nvSpPr>
        <p:spPr>
          <a:xfrm>
            <a:off x="8257032" y="3465576"/>
            <a:ext cx="1051560" cy="1051560"/>
          </a:xfrm>
          <a:prstGeom prst="ellipse">
            <a:avLst/>
          </a:prstGeom>
          <a:solidFill>
            <a:srgbClr val="E8F2EC"/>
          </a:solidFill>
          <a:ln w="19050">
            <a:solidFill>
              <a:srgbClr val="C7DF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6488" y="379476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7818120" y="4846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서비스 연계</a:t>
            </a:r>
            <a:endParaRPr lang="en-US" sz="1890" dirty="0"/>
          </a:p>
        </p:txBody>
      </p:sp>
      <p:sp>
        <p:nvSpPr>
          <p:cNvPr id="24" name="Shape 22"/>
          <p:cNvSpPr/>
          <p:nvPr/>
        </p:nvSpPr>
        <p:spPr>
          <a:xfrm>
            <a:off x="10552176" y="3465576"/>
            <a:ext cx="1051560" cy="1051560"/>
          </a:xfrm>
          <a:prstGeom prst="ellipse">
            <a:avLst/>
          </a:prstGeom>
          <a:solidFill>
            <a:srgbClr val="176E66"/>
          </a:solidFill>
          <a:ln w="19050">
            <a:solidFill>
              <a:srgbClr val="176E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71632" y="3794760"/>
            <a:ext cx="612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980" dirty="0"/>
          </a:p>
        </p:txBody>
      </p:sp>
      <p:sp>
        <p:nvSpPr>
          <p:cNvPr id="26" name="Text 24"/>
          <p:cNvSpPr/>
          <p:nvPr/>
        </p:nvSpPr>
        <p:spPr>
          <a:xfrm>
            <a:off x="10113264" y="48463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사후 점검</a:t>
            </a:r>
            <a:endParaRPr lang="en-US" sz="1890" dirty="0"/>
          </a:p>
        </p:txBody>
      </p:sp>
      <p:sp>
        <p:nvSpPr>
          <p:cNvPr id="27" name="Shape 25"/>
          <p:cNvSpPr/>
          <p:nvPr/>
        </p:nvSpPr>
        <p:spPr>
          <a:xfrm>
            <a:off x="2596896" y="5641848"/>
            <a:ext cx="7031736" cy="438912"/>
          </a:xfrm>
          <a:prstGeom prst="roundRect">
            <a:avLst/>
          </a:prstGeom>
          <a:solidFill>
            <a:srgbClr val="E9F4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5769864"/>
            <a:ext cx="6693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이해를 돕기 위한 통합지원 흐름 예시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84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INTEGRATED BENEFITS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2354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2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노인·장애인에게 제공되는 지원</a:t>
            </a:r>
            <a:endParaRPr lang="en-US" sz="2920" dirty="0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76072" cy="50292"/>
          </a:xfrm>
          <a:prstGeom prst="rect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69380"/>
            <a:ext cx="1075334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B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3796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990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61904" y="651052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185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 / 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7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건강, 일상생활, 주거까지 필요한 지원을 함께 살핍니다.</a:t>
            </a:r>
            <a:endParaRPr lang="en-US" sz="2070" dirty="0"/>
          </a:p>
        </p:txBody>
      </p:sp>
      <p:sp>
        <p:nvSpPr>
          <p:cNvPr id="10" name="Shape 8"/>
          <p:cNvSpPr/>
          <p:nvPr/>
        </p:nvSpPr>
        <p:spPr>
          <a:xfrm>
            <a:off x="731520" y="2569464"/>
            <a:ext cx="3493008" cy="3547872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2734056"/>
            <a:ext cx="3182112" cy="576072"/>
          </a:xfrm>
          <a:prstGeom prst="roundRect">
            <a:avLst/>
          </a:prstGeom>
          <a:solidFill>
            <a:srgbClr val="DDEF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90779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7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의료·건강</a:t>
            </a:r>
            <a:endParaRPr lang="en-US" sz="1970" dirty="0"/>
          </a:p>
        </p:txBody>
      </p:sp>
      <p:sp>
        <p:nvSpPr>
          <p:cNvPr id="13" name="Text 11"/>
          <p:cNvSpPr/>
          <p:nvPr/>
        </p:nvSpPr>
        <p:spPr>
          <a:xfrm>
            <a:off x="3456432" y="29169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6개 영역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14984" y="362559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52958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방문의료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4984" y="403707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394106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예방의료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4984" y="444855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435254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방문한의진료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4984" y="486003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476402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방문운동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14984" y="527151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517550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방문복약지도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4984" y="568299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61872" y="558698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구강건강관리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52544" y="2569464"/>
            <a:ext cx="3493008" cy="3547872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07992" y="2734056"/>
            <a:ext cx="3182112" cy="576072"/>
          </a:xfrm>
          <a:prstGeom prst="roundRect">
            <a:avLst/>
          </a:prstGeom>
          <a:solidFill>
            <a:srgbClr val="E8F2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90779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7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일상생활</a:t>
            </a:r>
            <a:endParaRPr lang="en-US" sz="1970" dirty="0"/>
          </a:p>
        </p:txBody>
      </p:sp>
      <p:sp>
        <p:nvSpPr>
          <p:cNvPr id="29" name="Text 27"/>
          <p:cNvSpPr/>
          <p:nvPr/>
        </p:nvSpPr>
        <p:spPr>
          <a:xfrm>
            <a:off x="7077456" y="29169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3개 영역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36008" y="3625596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52958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방문가사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36008" y="4416552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432054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외출동행(병원동행)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36008" y="5207508"/>
            <a:ext cx="109728" cy="109728"/>
          </a:xfrm>
          <a:prstGeom prst="ellipse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82896" y="5111496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영양지원(도시락 배달)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73568" y="2569464"/>
            <a:ext cx="3493008" cy="3547872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29016" y="2734056"/>
            <a:ext cx="3182112" cy="576072"/>
          </a:xfrm>
          <a:prstGeom prst="roundRect">
            <a:avLst/>
          </a:prstGeom>
          <a:solidFill>
            <a:srgbClr val="F4EEE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290779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7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주거·돌봄 연계</a:t>
            </a:r>
            <a:endParaRPr lang="en-US" sz="1970" dirty="0"/>
          </a:p>
        </p:txBody>
      </p:sp>
      <p:sp>
        <p:nvSpPr>
          <p:cNvPr id="39" name="Text 37"/>
          <p:cNvSpPr/>
          <p:nvPr/>
        </p:nvSpPr>
        <p:spPr>
          <a:xfrm>
            <a:off x="10698480" y="291693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4개 영역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57032" y="3625596"/>
            <a:ext cx="109728" cy="109728"/>
          </a:xfrm>
          <a:prstGeom prst="ellipse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3529584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주거환경개선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7032" y="4261104"/>
            <a:ext cx="109728" cy="109728"/>
          </a:xfrm>
          <a:prstGeom prst="ellipse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4165092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웰빙홈컨설팅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57032" y="4896612"/>
            <a:ext cx="109728" cy="109728"/>
          </a:xfrm>
          <a:prstGeom prst="ellipse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800600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천안시통합돌봄센터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57032" y="5532120"/>
            <a:ext cx="109728" cy="109728"/>
          </a:xfrm>
          <a:prstGeom prst="ellipse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5436108"/>
            <a:ext cx="27432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중간집(케어안심주택)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8096" y="624535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4898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대상자별 실제 지원 내용·자격·절차는 사업 기준에 따라 확인 필요</a:t>
            </a:r>
            <a:endParaRPr lang="en-US" sz="10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76E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84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90" kern="0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92354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2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기대효과</a:t>
            </a:r>
            <a:endParaRPr lang="en-US" sz="2920" dirty="0"/>
          </a:p>
        </p:txBody>
      </p:sp>
      <p:sp>
        <p:nvSpPr>
          <p:cNvPr id="5" name="Shape 3"/>
          <p:cNvSpPr/>
          <p:nvPr/>
        </p:nvSpPr>
        <p:spPr>
          <a:xfrm>
            <a:off x="731520" y="1618488"/>
            <a:ext cx="576072" cy="50292"/>
          </a:xfrm>
          <a:prstGeom prst="rect">
            <a:avLst/>
          </a:prstGeom>
          <a:solidFill>
            <a:srgbClr val="DAA0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6469380"/>
            <a:ext cx="10753344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DBE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537960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990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61904" y="6510528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185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 / 06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5681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익숙한 지역에서 더 건강하고 안전한 일상을 지원합니다.</a:t>
            </a:r>
            <a:endParaRPr lang="en-US" sz="2230" dirty="0"/>
          </a:p>
        </p:txBody>
      </p:sp>
      <p:sp>
        <p:nvSpPr>
          <p:cNvPr id="10" name="Shape 8"/>
          <p:cNvSpPr/>
          <p:nvPr/>
        </p:nvSpPr>
        <p:spPr>
          <a:xfrm>
            <a:off x="768096" y="2916936"/>
            <a:ext cx="3392424" cy="248716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136392"/>
            <a:ext cx="1042416" cy="448056"/>
          </a:xfrm>
          <a:prstGeom prst="roundRect">
            <a:avLst/>
          </a:prstGeom>
          <a:solidFill>
            <a:srgbClr val="E5F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97864" y="3255264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690" dirty="0"/>
          </a:p>
        </p:txBody>
      </p:sp>
      <p:sp>
        <p:nvSpPr>
          <p:cNvPr id="13" name="Text 11"/>
          <p:cNvSpPr/>
          <p:nvPr/>
        </p:nvSpPr>
        <p:spPr>
          <a:xfrm>
            <a:off x="987552" y="382219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건강 관리의 연속성</a:t>
            </a:r>
            <a:endParaRPr lang="en-US" sz="1990" dirty="0"/>
          </a:p>
        </p:txBody>
      </p:sp>
      <p:sp>
        <p:nvSpPr>
          <p:cNvPr id="14" name="Shape 12"/>
          <p:cNvSpPr/>
          <p:nvPr/>
        </p:nvSpPr>
        <p:spPr>
          <a:xfrm>
            <a:off x="996696" y="4416552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BE7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방문형 건강지원 연계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996696" y="5029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예방 중심 돌봄 강화</a:t>
            </a:r>
            <a:endParaRPr lang="en-US" sz="1460" dirty="0"/>
          </a:p>
        </p:txBody>
      </p:sp>
      <p:sp>
        <p:nvSpPr>
          <p:cNvPr id="17" name="Shape 15"/>
          <p:cNvSpPr/>
          <p:nvPr/>
        </p:nvSpPr>
        <p:spPr>
          <a:xfrm>
            <a:off x="4599432" y="2916936"/>
            <a:ext cx="3392424" cy="248716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3136392"/>
            <a:ext cx="1042416" cy="448056"/>
          </a:xfrm>
          <a:prstGeom prst="roundRect">
            <a:avLst/>
          </a:prstGeom>
          <a:solidFill>
            <a:srgbClr val="E5F3E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55264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176E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90" dirty="0"/>
          </a:p>
        </p:txBody>
      </p:sp>
      <p:sp>
        <p:nvSpPr>
          <p:cNvPr id="20" name="Text 18"/>
          <p:cNvSpPr/>
          <p:nvPr/>
        </p:nvSpPr>
        <p:spPr>
          <a:xfrm>
            <a:off x="4818888" y="382219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일상생활 지원 강화</a:t>
            </a:r>
            <a:endParaRPr lang="en-US" sz="1990" dirty="0"/>
          </a:p>
        </p:txBody>
      </p:sp>
      <p:sp>
        <p:nvSpPr>
          <p:cNvPr id="21" name="Shape 19"/>
          <p:cNvSpPr/>
          <p:nvPr/>
        </p:nvSpPr>
        <p:spPr>
          <a:xfrm>
            <a:off x="4828032" y="4416552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BE7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가사·외출·영양 지원</a:t>
            </a:r>
            <a:endParaRPr lang="en-US" sz="1460" dirty="0"/>
          </a:p>
        </p:txBody>
      </p:sp>
      <p:sp>
        <p:nvSpPr>
          <p:cNvPr id="23" name="Text 21"/>
          <p:cNvSpPr/>
          <p:nvPr/>
        </p:nvSpPr>
        <p:spPr>
          <a:xfrm>
            <a:off x="4828032" y="5029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가족의 돌봄 부담 완화</a:t>
            </a:r>
            <a:endParaRPr lang="en-US" sz="1460" dirty="0"/>
          </a:p>
        </p:txBody>
      </p:sp>
      <p:sp>
        <p:nvSpPr>
          <p:cNvPr id="24" name="Shape 22"/>
          <p:cNvSpPr/>
          <p:nvPr/>
        </p:nvSpPr>
        <p:spPr>
          <a:xfrm>
            <a:off x="8430768" y="2916936"/>
            <a:ext cx="3392424" cy="248716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4E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0224" y="3136392"/>
            <a:ext cx="1042416" cy="448056"/>
          </a:xfrm>
          <a:prstGeom prst="roundRect">
            <a:avLst/>
          </a:prstGeom>
          <a:solidFill>
            <a:srgbClr val="F7EC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0536" y="3255264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A178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90" dirty="0"/>
          </a:p>
        </p:txBody>
      </p:sp>
      <p:sp>
        <p:nvSpPr>
          <p:cNvPr id="27" name="Text 25"/>
          <p:cNvSpPr/>
          <p:nvPr/>
        </p:nvSpPr>
        <p:spPr>
          <a:xfrm>
            <a:off x="8650224" y="3822192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90" b="1" dirty="0">
                <a:solidFill>
                  <a:srgbClr val="19334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지역사회 계속 거주</a:t>
            </a:r>
            <a:endParaRPr lang="en-US" sz="1990" dirty="0"/>
          </a:p>
        </p:txBody>
      </p:sp>
      <p:sp>
        <p:nvSpPr>
          <p:cNvPr id="28" name="Shape 26"/>
          <p:cNvSpPr/>
          <p:nvPr/>
        </p:nvSpPr>
        <p:spPr>
          <a:xfrm>
            <a:off x="8659368" y="4416552"/>
            <a:ext cx="27889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DBE7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9368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주거 안전성 향상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8659368" y="5029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63767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익숙한 곳에서 생활 유지</a:t>
            </a:r>
            <a:endParaRPr lang="en-US" sz="1460" dirty="0"/>
          </a:p>
        </p:txBody>
      </p:sp>
      <p:sp>
        <p:nvSpPr>
          <p:cNvPr id="31" name="Text 29"/>
          <p:cNvSpPr/>
          <p:nvPr/>
        </p:nvSpPr>
        <p:spPr>
          <a:xfrm>
            <a:off x="777240" y="6044184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B8D8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※ 상기 내용은 정책 추진에 따른 기대효과이며, 실적 수치를 의미하지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20840" y="603504"/>
            <a:ext cx="5120640" cy="5120640"/>
          </a:xfrm>
          <a:prstGeom prst="ellipse">
            <a:avLst/>
          </a:prstGeom>
          <a:solidFill>
            <a:srgbClr val="D6ECE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731520"/>
            <a:ext cx="1005840" cy="1005840"/>
          </a:xfrm>
          <a:prstGeom prst="ellipse">
            <a:avLst/>
          </a:prstGeom>
          <a:solidFill>
            <a:srgbClr val="DAA05D">
              <a:alpha val="3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749808"/>
            <a:ext cx="5980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BCE2D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천안시 의료요양 통합돌봄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" y="1335024"/>
            <a:ext cx="685800" cy="54864"/>
          </a:xfrm>
          <a:prstGeom prst="rect">
            <a:avLst/>
          </a:prstGeom>
          <a:solidFill>
            <a:srgbClr val="E8B5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37944"/>
            <a:ext cx="62910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살던 곳에서,</a:t>
            </a:r>
            <a:endParaRPr lang="en-US" sz="3350" dirty="0"/>
          </a:p>
          <a:p>
            <a:pPr indent="0" marL="0">
              <a:buNone/>
            </a:pPr>
            <a:r>
              <a:rPr lang="en-US" sz="33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살아갈 수 있도록</a:t>
            </a:r>
            <a:endParaRPr lang="en-US" sz="335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5330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40" dirty="0">
                <a:solidFill>
                  <a:srgbClr val="DCEB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의료·요양·돌봄·주거를 잇는</a:t>
            </a:r>
            <a:endParaRPr lang="en-US" sz="19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40" dirty="0">
                <a:solidFill>
                  <a:srgbClr val="DCEBE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 중심 통합돌봄</a:t>
            </a:r>
            <a:endParaRPr lang="en-US" sz="1940" dirty="0"/>
          </a:p>
        </p:txBody>
      </p:sp>
      <p:pic>
        <p:nvPicPr>
          <p:cNvPr id="8" name="Image 0" descr="/mnt/data/따뜻한 통합 재가돌봄 서비스 현장(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299591"/>
            <a:ext cx="6922008" cy="51915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630021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spc="120" kern="0" dirty="0">
                <a:solidFill>
                  <a:srgbClr val="BCE2D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CHEONAN INTEGRATED CARE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10881360" y="6300216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CE2D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 / 06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천안시 의료요양 통합돌봄</dc:title>
  <dc:subject>공무원 보고용 6장 발표자료</dc:subject>
  <dc:creator>천안시 의료요양 통합돌봄 사업 소개</dc:creator>
  <cp:lastModifiedBy>천안시 의료요양 통합돌봄 사업 소개</cp:lastModifiedBy>
  <cp:revision>1</cp:revision>
  <dcterms:created xsi:type="dcterms:W3CDTF">2026-10-30T06:02:11Z</dcterms:created>
  <dcterms:modified xsi:type="dcterms:W3CDTF">2026-10-30T06:02:11Z</dcterms:modified>
</cp:coreProperties>
</file>