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제공한 통합돌봄 이미지 사용. 이 자료는 개요 보고용 초안으로, 세부 운영 내용은 담당 부서 검토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 취지를 정성적으로 요약. 지역별 통계, 법적 적용범위 등 확인되지 않은 사항은 기재하지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사업 추진 방향을 도식화한 설명 자료.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수혜대상 범위는 사용자 요청에 제시된 노인·장애인을 기준으로 간략히 표현. 실제 자격조건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이용자 관점의 개념적 지원 흐름이며, 실제 천안시 절차 및 담당부서는 별도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명칭은 사용자 제공 목록을 반영함. 한의사는 사진에서 제외하되 서비스 항목인 한의진료는 유지함.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일상생활 지원 내용은 사용자가 제공한 사업 항목에 기초함.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명칭은 사용자 제공 목록을 반영했으며, 각 기관 및 주거 지원 운영 여부는 담당 부서의 검증이 필요함.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검증된 계량성과가 아닌 사업 목표에 따른 정성적 기대효과임.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이미지는 사용자가 지정한 재구성된 통합돌봄 현장 이미지이며, 한의사 인물은 나타나지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>
              <a:gd name="adj" fmla="val 113333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338328"/>
            <a:ext cx="4480560" cy="4480560"/>
          </a:xfrm>
          <a:prstGeom prst="ellipse">
            <a:avLst/>
          </a:prstGeom>
          <a:solidFill>
            <a:srgbClr val="EAF5F1"/>
          </a:solidFill>
          <a:ln w="12700">
            <a:solidFill>
              <a:srgbClr val="EAF5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667512"/>
            <a:ext cx="1170432" cy="1170432"/>
          </a:xfrm>
          <a:prstGeom prst="ellipse">
            <a:avLst/>
          </a:prstGeom>
          <a:solidFill>
            <a:srgbClr val="F6EEE2"/>
          </a:solidFill>
          <a:ln w="12700">
            <a:solidFill>
              <a:srgbClr val="F6EEE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정책 보고자료  |  2026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51663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5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살던 곳에서,</a:t>
            </a:r>
            <a:endParaRPr lang="en-US" sz="3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95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일상을</a:t>
            </a:r>
            <a:endParaRPr lang="en-US" sz="39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95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이어갑니다</a:t>
            </a:r>
            <a:endParaRPr lang="en-US" sz="3950" dirty="0"/>
          </a:p>
        </p:txBody>
      </p:sp>
      <p:sp>
        <p:nvSpPr>
          <p:cNvPr id="7" name="Shape 5"/>
          <p:cNvSpPr/>
          <p:nvPr/>
        </p:nvSpPr>
        <p:spPr>
          <a:xfrm>
            <a:off x="740664" y="3840480"/>
            <a:ext cx="722376" cy="54864"/>
          </a:xfrm>
          <a:prstGeom prst="rect">
            <a:avLst>
              <a:gd name="adj" fmla="val 283333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30" b="1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2030" dirty="0"/>
          </a:p>
        </p:txBody>
      </p:sp>
      <p:sp>
        <p:nvSpPr>
          <p:cNvPr id="9" name="Text 7"/>
          <p:cNvSpPr/>
          <p:nvPr/>
        </p:nvSpPr>
        <p:spPr>
          <a:xfrm>
            <a:off x="740664" y="46725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· 요양 · 일상돌봄 · 주거 지원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731520" y="5797296"/>
            <a:ext cx="2697480" cy="411480"/>
          </a:xfrm>
          <a:prstGeom prst="roundRect">
            <a:avLst>
              <a:gd name="adj" fmla="val 37778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806440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공무원 보고용  ·  10장</a:t>
            </a:r>
            <a:endParaRPr lang="en-US" sz="1240" dirty="0"/>
          </a:p>
        </p:txBody>
      </p:sp>
      <p:pic>
        <p:nvPicPr>
          <p:cNvPr id="12" name="Image 0" descr="/mnt/data/wide_bright_cheerful_indoor_community_care_mo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020699"/>
            <a:ext cx="6995160" cy="52463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872216" y="6528816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10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추진 배경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복합적인 돌봄 수요에 통합적인 대응이 필요합니다.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67512" y="2441448"/>
            <a:ext cx="3447288" cy="2404872"/>
          </a:xfrm>
          <a:prstGeom prst="roundRect">
            <a:avLst>
              <a:gd name="adj" fmla="val 6464"/>
            </a:avLst>
          </a:prstGeom>
          <a:solidFill>
            <a:srgbClr val="EEF4FA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706624"/>
            <a:ext cx="493776" cy="493776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839212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978408" y="340156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수요의 변화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87552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고령화와 만성질환 증가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987552" y="43616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의료·요양·생활지원의 동시 필요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4379976" y="2441448"/>
            <a:ext cx="3447288" cy="2404872"/>
          </a:xfrm>
          <a:prstGeom prst="roundRect">
            <a:avLst>
              <a:gd name="adj" fmla="val 6464"/>
            </a:avLst>
          </a:prstGeom>
          <a:solidFill>
            <a:srgbClr val="FAF1E7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2706624"/>
            <a:ext cx="493776" cy="493776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39212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4690872" y="340156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이용의 어려움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700016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서비스별 분절된 접근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4700016" y="43616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신청·상담·연계 과정의 복잡성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092440" y="2441448"/>
            <a:ext cx="3447288" cy="2404872"/>
          </a:xfrm>
          <a:prstGeom prst="roundRect">
            <a:avLst>
              <a:gd name="adj" fmla="val 6464"/>
            </a:avLst>
          </a:prstGeom>
          <a:solidFill>
            <a:srgbClr val="E7F4EC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5048" y="2706624"/>
            <a:ext cx="493776" cy="493776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2839212"/>
            <a:ext cx="420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8403336" y="340156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정책의 방향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8412480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중심 돌봄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8412480" y="43616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익숙한 생활터전에서의 지속 거주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2029968" y="5376672"/>
            <a:ext cx="8119872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5385816"/>
            <a:ext cx="7936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전환  ·  서비스별 대응 → 대상자 중심 통합 지원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추진 방향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주민의 삶을 기준으로 의료·생활·주거를 연결합니다.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86384" y="2249424"/>
            <a:ext cx="3182112" cy="3044952"/>
          </a:xfrm>
          <a:prstGeom prst="roundRect">
            <a:avLst>
              <a:gd name="adj" fmla="val 5105"/>
            </a:avLst>
          </a:prstGeom>
          <a:solidFill>
            <a:srgbClr val="E7F5F2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2523744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0237" y="2715768"/>
            <a:ext cx="157277" cy="605516"/>
          </a:xfrm>
          <a:prstGeom prst="roundRect">
            <a:avLst>
              <a:gd name="adj" fmla="val 9883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3981" y="2939887"/>
            <a:ext cx="589788" cy="157277"/>
          </a:xfrm>
          <a:prstGeom prst="roundRect">
            <a:avLst>
              <a:gd name="adj" fmla="val 9883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49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</a:t>
            </a:r>
            <a:endParaRPr lang="en-US" sz="234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의료와 예방관리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4526280" y="2249424"/>
            <a:ext cx="3182112" cy="3044952"/>
          </a:xfrm>
          <a:prstGeom prst="roundRect">
            <a:avLst>
              <a:gd name="adj" fmla="val 5105"/>
            </a:avLst>
          </a:prstGeom>
          <a:solidFill>
            <a:srgbClr val="EEF4FA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05272" y="2523744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3631" y="2810134"/>
            <a:ext cx="283098" cy="283098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9546" y="2810134"/>
            <a:ext cx="283098" cy="283098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5831495" y="2943819"/>
            <a:ext cx="511150" cy="432511"/>
          </a:xfrm>
          <a:prstGeom prst="triangl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3749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</a:t>
            </a:r>
            <a:endParaRPr lang="en-US" sz="2340" dirty="0"/>
          </a:p>
        </p:txBody>
      </p:sp>
      <p:sp>
        <p:nvSpPr>
          <p:cNvPr id="22" name="Text 20"/>
          <p:cNvSpPr/>
          <p:nvPr/>
        </p:nvSpPr>
        <p:spPr>
          <a:xfrm>
            <a:off x="4745736" y="429768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생활지원과 이동·영양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8266176" y="2249424"/>
            <a:ext cx="3182112" cy="3044952"/>
          </a:xfrm>
          <a:prstGeom prst="roundRect">
            <a:avLst>
              <a:gd name="adj" fmla="val 5105"/>
            </a:avLst>
          </a:prstGeom>
          <a:solidFill>
            <a:srgbClr val="FAF1E7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5168" y="2523744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28139" y="2755087"/>
            <a:ext cx="660563" cy="440375"/>
          </a:xfrm>
          <a:prstGeom prst="triangl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4301" y="3014594"/>
            <a:ext cx="448239" cy="330281"/>
          </a:xfrm>
          <a:prstGeom prst="rect">
            <a:avLst>
              <a:gd name="adj" fmla="val 47065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11238" y="3140415"/>
            <a:ext cx="114026" cy="204460"/>
          </a:xfrm>
          <a:prstGeom prst="rect">
            <a:avLst>
              <a:gd name="adj" fmla="val 13632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1352" y="3749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</a:t>
            </a:r>
            <a:endParaRPr lang="en-US" sz="2340" dirty="0"/>
          </a:p>
        </p:txBody>
      </p:sp>
      <p:sp>
        <p:nvSpPr>
          <p:cNvPr id="29" name="Text 27"/>
          <p:cNvSpPr/>
          <p:nvPr/>
        </p:nvSpPr>
        <p:spPr>
          <a:xfrm>
            <a:off x="8485632" y="4297680"/>
            <a:ext cx="2743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집과 지역사회 연결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2084832" y="5705856"/>
            <a:ext cx="8101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개인의 상태와 희망을 함께 고려하는 맞춤형 돌봄</a:t>
            </a:r>
            <a:endParaRPr lang="en-US" sz="1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지원을 받나요?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돌봄이 필요한 노인과 장애인의 지역사회 생활을 지원합니다.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76656" y="2267712"/>
            <a:ext cx="4956048" cy="3547872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587752"/>
            <a:ext cx="4425696" cy="1115568"/>
          </a:xfrm>
          <a:prstGeom prst="roundRect">
            <a:avLst>
              <a:gd name="adj" fmla="val 13934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" y="2852928"/>
            <a:ext cx="576072" cy="576072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5471" y="2949763"/>
            <a:ext cx="121158" cy="12115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4170" y="2949763"/>
            <a:ext cx="121158" cy="12115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6701" y="3124230"/>
            <a:ext cx="193853" cy="189006"/>
          </a:xfrm>
          <a:prstGeom prst="roundRect">
            <a:avLst>
              <a:gd name="adj" fmla="val 822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20246" y="3124230"/>
            <a:ext cx="193853" cy="189006"/>
          </a:xfrm>
          <a:prstGeom prst="roundRect">
            <a:avLst>
              <a:gd name="adj" fmla="val 822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277063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노인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965960" y="318211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의료·요양·일상 돌봄이 필요한 어르신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1832" y="3977640"/>
            <a:ext cx="4425696" cy="1115568"/>
          </a:xfrm>
          <a:prstGeom prst="roundRect">
            <a:avLst>
              <a:gd name="adj" fmla="val 13934"/>
            </a:avLst>
          </a:prstGeom>
          <a:solidFill>
            <a:srgbClr val="EEF4FA"/>
          </a:solidFill>
          <a:ln w="12700">
            <a:solidFill>
              <a:srgbClr val="EEF4F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" y="4242816"/>
            <a:ext cx="576072" cy="576072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5471" y="4339651"/>
            <a:ext cx="121158" cy="12115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54170" y="4339651"/>
            <a:ext cx="121158" cy="12115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6701" y="4514118"/>
            <a:ext cx="193853" cy="189006"/>
          </a:xfrm>
          <a:prstGeom prst="roundRect">
            <a:avLst>
              <a:gd name="adj" fmla="val 822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20246" y="4514118"/>
            <a:ext cx="193853" cy="189006"/>
          </a:xfrm>
          <a:prstGeom prst="roundRect">
            <a:avLst>
              <a:gd name="adj" fmla="val 822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56816" y="416052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</a:t>
            </a:r>
            <a:endParaRPr lang="en-US" sz="2040" dirty="0"/>
          </a:p>
        </p:txBody>
      </p:sp>
      <p:sp>
        <p:nvSpPr>
          <p:cNvPr id="26" name="Text 24"/>
          <p:cNvSpPr/>
          <p:nvPr/>
        </p:nvSpPr>
        <p:spPr>
          <a:xfrm>
            <a:off x="1965960" y="45720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건강·활동·주거 지원이 필요한 시민</a:t>
            </a:r>
            <a:endParaRPr lang="en-US" sz="1250" dirty="0"/>
          </a:p>
        </p:txBody>
      </p:sp>
      <p:pic>
        <p:nvPicPr>
          <p:cNvPr id="27" name="Image 0" descr="/mnt/data/wide_bright_cheerful_indoor_community_care_mo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2377440"/>
            <a:ext cx="4754880" cy="35661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13816" y="6126480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실제 지원 대상·선정 기준은 관련 사업 운영기준에 따름</a:t>
            </a:r>
            <a:endParaRPr lang="en-US" sz="10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통합돌봄 지원 흐름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상담부터 서비스 연계와 점검까지 하나의 과정으로 이어집니다.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2130552" cy="2523744"/>
          </a:xfrm>
          <a:prstGeom prst="roundRect">
            <a:avLst>
              <a:gd name="adj" fmla="val 7296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697480"/>
            <a:ext cx="777240" cy="77724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295351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739896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접수·상담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270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 수요 확인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2770632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8A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2971800" y="2423160"/>
            <a:ext cx="2130552" cy="2523744"/>
          </a:xfrm>
          <a:prstGeom prst="roundRect">
            <a:avLst>
              <a:gd name="adj" fmla="val 7296"/>
            </a:avLst>
          </a:prstGeom>
          <a:solidFill>
            <a:srgbClr val="F2F7F7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697480"/>
            <a:ext cx="777240" cy="77724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295351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39896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욕구 파악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08960" y="4270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건강·생활상태 확인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5102352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8A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900" dirty="0"/>
          </a:p>
        </p:txBody>
      </p:sp>
      <p:sp>
        <p:nvSpPr>
          <p:cNvPr id="22" name="Shape 20"/>
          <p:cNvSpPr/>
          <p:nvPr/>
        </p:nvSpPr>
        <p:spPr>
          <a:xfrm>
            <a:off x="5303520" y="2423160"/>
            <a:ext cx="2130552" cy="2523744"/>
          </a:xfrm>
          <a:prstGeom prst="roundRect">
            <a:avLst>
              <a:gd name="adj" fmla="val 7296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2697480"/>
            <a:ext cx="777240" cy="77724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295351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739896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지원계획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4270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개인별 필요 조정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7434072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8A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900" dirty="0"/>
          </a:p>
        </p:txBody>
      </p:sp>
      <p:sp>
        <p:nvSpPr>
          <p:cNvPr id="28" name="Shape 26"/>
          <p:cNvSpPr/>
          <p:nvPr/>
        </p:nvSpPr>
        <p:spPr>
          <a:xfrm>
            <a:off x="7635240" y="2423160"/>
            <a:ext cx="2130552" cy="2523744"/>
          </a:xfrm>
          <a:prstGeom prst="roundRect">
            <a:avLst>
              <a:gd name="adj" fmla="val 7296"/>
            </a:avLst>
          </a:prstGeom>
          <a:solidFill>
            <a:srgbClr val="F2F7F7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2697480"/>
            <a:ext cx="777240" cy="77724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94776" y="295351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3739896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연계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0" y="4270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의료·돌봄 지원 연결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9765792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48A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900" dirty="0"/>
          </a:p>
        </p:txBody>
      </p:sp>
      <p:sp>
        <p:nvSpPr>
          <p:cNvPr id="34" name="Shape 32"/>
          <p:cNvSpPr/>
          <p:nvPr/>
        </p:nvSpPr>
        <p:spPr>
          <a:xfrm>
            <a:off x="9966960" y="2423160"/>
            <a:ext cx="2130552" cy="2523744"/>
          </a:xfrm>
          <a:prstGeom prst="roundRect">
            <a:avLst>
              <a:gd name="adj" fmla="val 7296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52760" y="2697480"/>
            <a:ext cx="777240" cy="77724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26496" y="295351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04120" y="3739896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04120" y="427024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점검·보완</a:t>
            </a:r>
            <a:endParaRPr lang="en-US" sz="1230" dirty="0"/>
          </a:p>
        </p:txBody>
      </p:sp>
      <p:sp>
        <p:nvSpPr>
          <p:cNvPr id="39" name="Shape 37"/>
          <p:cNvSpPr/>
          <p:nvPr/>
        </p:nvSpPr>
        <p:spPr>
          <a:xfrm>
            <a:off x="2313432" y="5541264"/>
            <a:ext cx="7589520" cy="521208"/>
          </a:xfrm>
          <a:prstGeom prst="roundRect">
            <a:avLst>
              <a:gd name="adj" fmla="val 29825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04872" y="55504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적용 시 대상자별 필요와 가용 자원을 함께 고려</a:t>
            </a:r>
            <a:endParaRPr lang="en-US" sz="14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의료·건강 지원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집 가까이에서 건강을 관리하고 악화를 예방합니다.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94944" y="2267712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2542032"/>
            <a:ext cx="731520" cy="731520"/>
          </a:xfrm>
          <a:prstGeom prst="ellipse">
            <a:avLst/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0597" y="2715768"/>
            <a:ext cx="82296" cy="316840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7440" y="2833040"/>
            <a:ext cx="308610" cy="82296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251460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6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방문의료</a:t>
            </a:r>
            <a:endParaRPr lang="en-US" sz="1760" dirty="0"/>
          </a:p>
        </p:txBody>
      </p:sp>
      <p:sp>
        <p:nvSpPr>
          <p:cNvPr id="15" name="Text 13"/>
          <p:cNvSpPr/>
          <p:nvPr/>
        </p:nvSpPr>
        <p:spPr>
          <a:xfrm>
            <a:off x="1810512" y="297180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건강상태를 살피는 의료 지원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07408" y="2267712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432" y="2542032"/>
            <a:ext cx="731520" cy="731520"/>
          </a:xfrm>
          <a:prstGeom prst="ellipse">
            <a:avLst/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33061" y="2715768"/>
            <a:ext cx="82296" cy="316840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9904" y="2833040"/>
            <a:ext cx="308610" cy="82296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251460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6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예방의료</a:t>
            </a:r>
            <a:endParaRPr lang="en-US" sz="1760" dirty="0"/>
          </a:p>
        </p:txBody>
      </p:sp>
      <p:sp>
        <p:nvSpPr>
          <p:cNvPr id="21" name="Text 19"/>
          <p:cNvSpPr/>
          <p:nvPr/>
        </p:nvSpPr>
        <p:spPr>
          <a:xfrm>
            <a:off x="5522976" y="297180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질환 예방·건강관리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2267712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FAF1E7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11896" y="2542032"/>
            <a:ext cx="731520" cy="731520"/>
          </a:xfrm>
          <a:prstGeom prst="ellipse">
            <a:avLst/>
          </a:prstGeom>
          <a:solidFill>
            <a:srgbClr val="EBCFAF"/>
          </a:solidFill>
          <a:ln w="12700">
            <a:solidFill>
              <a:srgbClr val="EBCFA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5525" y="2715768"/>
            <a:ext cx="82296" cy="316840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32368" y="2833040"/>
            <a:ext cx="308610" cy="82296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251460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6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한의진료</a:t>
            </a:r>
            <a:endParaRPr lang="en-US" sz="1760" dirty="0"/>
          </a:p>
        </p:txBody>
      </p:sp>
      <p:sp>
        <p:nvSpPr>
          <p:cNvPr id="27" name="Text 25"/>
          <p:cNvSpPr/>
          <p:nvPr/>
        </p:nvSpPr>
        <p:spPr>
          <a:xfrm>
            <a:off x="9235440" y="297180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필요에 따른 한의 서비스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4944" y="3776472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" y="4050792"/>
            <a:ext cx="731520" cy="731520"/>
          </a:xfrm>
          <a:prstGeom prst="ellipse">
            <a:avLst/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3564" y="4236872"/>
            <a:ext cx="102870" cy="10287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52271" y="4236872"/>
            <a:ext cx="102870" cy="10287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0646" y="4385005"/>
            <a:ext cx="164592" cy="160477"/>
          </a:xfrm>
          <a:prstGeom prst="roundRect">
            <a:avLst>
              <a:gd name="adj" fmla="val 96866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23467" y="4385005"/>
            <a:ext cx="164592" cy="160477"/>
          </a:xfrm>
          <a:prstGeom prst="roundRect">
            <a:avLst>
              <a:gd name="adj" fmla="val 96866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10512" y="402336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6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방문운동</a:t>
            </a:r>
            <a:endParaRPr lang="en-US" sz="1760" dirty="0"/>
          </a:p>
        </p:txBody>
      </p:sp>
      <p:sp>
        <p:nvSpPr>
          <p:cNvPr id="35" name="Text 33"/>
          <p:cNvSpPr/>
          <p:nvPr/>
        </p:nvSpPr>
        <p:spPr>
          <a:xfrm>
            <a:off x="1810512" y="448056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신체기능 유지 지원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07408" y="3776472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99432" y="4050792"/>
            <a:ext cx="731520" cy="731520"/>
          </a:xfrm>
          <a:prstGeom prst="ellipse">
            <a:avLst/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224528"/>
            <a:ext cx="329184" cy="329184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8372" y="4265676"/>
            <a:ext cx="222199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305" dirty="0"/>
          </a:p>
        </p:txBody>
      </p:sp>
      <p:sp>
        <p:nvSpPr>
          <p:cNvPr id="40" name="Text 38"/>
          <p:cNvSpPr/>
          <p:nvPr/>
        </p:nvSpPr>
        <p:spPr>
          <a:xfrm>
            <a:off x="5522976" y="402336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6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복약관리</a:t>
            </a:r>
            <a:endParaRPr lang="en-US" sz="1760" dirty="0"/>
          </a:p>
        </p:txBody>
      </p:sp>
      <p:sp>
        <p:nvSpPr>
          <p:cNvPr id="41" name="Text 39"/>
          <p:cNvSpPr/>
          <p:nvPr/>
        </p:nvSpPr>
        <p:spPr>
          <a:xfrm>
            <a:off x="5522976" y="448056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약물 사용 지도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119872" y="3776472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11896" y="4050792"/>
            <a:ext cx="731520" cy="731520"/>
          </a:xfrm>
          <a:prstGeom prst="ellipse">
            <a:avLst/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5525" y="4224528"/>
            <a:ext cx="82296" cy="316840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32368" y="4341800"/>
            <a:ext cx="308610" cy="82296"/>
          </a:xfrm>
          <a:prstGeom prst="roundRect">
            <a:avLst>
              <a:gd name="adj" fmla="val 188889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402336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6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구강건강관리</a:t>
            </a:r>
            <a:endParaRPr lang="en-US" sz="1760" dirty="0"/>
          </a:p>
        </p:txBody>
      </p:sp>
      <p:sp>
        <p:nvSpPr>
          <p:cNvPr id="47" name="Text 45"/>
          <p:cNvSpPr/>
          <p:nvPr/>
        </p:nvSpPr>
        <p:spPr>
          <a:xfrm>
            <a:off x="9235440" y="448056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구강위생·건강관리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86384" y="5879592"/>
            <a:ext cx="10634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세부 지원 방식과 서비스 이용 가능 여부는 운영기준 확인 필요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일상생활 지원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돌봄이 일상의 빈틈을 메우도록 생활을 돕습니다.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31520" y="2441448"/>
            <a:ext cx="3383280" cy="2953512"/>
          </a:xfrm>
          <a:prstGeom prst="roundRect">
            <a:avLst>
              <a:gd name="adj" fmla="val 5263"/>
            </a:avLst>
          </a:prstGeom>
          <a:solidFill>
            <a:srgbClr val="E7F5F2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9384" y="2724912"/>
            <a:ext cx="987552" cy="9875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0539" y="2927452"/>
            <a:ext cx="637520" cy="425013"/>
          </a:xfrm>
          <a:prstGeom prst="triangl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2998" y="3177906"/>
            <a:ext cx="432603" cy="318760"/>
          </a:xfrm>
          <a:prstGeom prst="rect">
            <a:avLst>
              <a:gd name="adj" fmla="val 48766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3762" y="3299338"/>
            <a:ext cx="110048" cy="197328"/>
          </a:xfrm>
          <a:prstGeom prst="rect">
            <a:avLst>
              <a:gd name="adj" fmla="val 141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968496"/>
            <a:ext cx="28712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방문가사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78408" y="457200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청소 등 가정 내 생활 지원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4544568" y="2441448"/>
            <a:ext cx="3383280" cy="2953512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42432" y="2724912"/>
            <a:ext cx="987552" cy="9875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2919" y="2912273"/>
            <a:ext cx="189738" cy="189738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4090" y="2912273"/>
            <a:ext cx="189738" cy="189738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22203" y="3185495"/>
            <a:ext cx="303581" cy="295991"/>
          </a:xfrm>
          <a:prstGeom prst="roundRect">
            <a:avLst>
              <a:gd name="adj" fmla="val 52518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0963" y="3185495"/>
            <a:ext cx="303581" cy="295991"/>
          </a:xfrm>
          <a:prstGeom prst="roundRect">
            <a:avLst>
              <a:gd name="adj" fmla="val 52518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968496"/>
            <a:ext cx="28712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외출동행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91456" y="457200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이용 등 외출·이동 지원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357616" y="2441448"/>
            <a:ext cx="3383280" cy="2953512"/>
          </a:xfrm>
          <a:prstGeom prst="roundRect">
            <a:avLst>
              <a:gd name="adj" fmla="val 5263"/>
            </a:avLst>
          </a:prstGeom>
          <a:solidFill>
            <a:srgbClr val="FAF1E7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55480" y="2724912"/>
            <a:ext cx="987552" cy="9875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64273" y="3033705"/>
            <a:ext cx="364297" cy="364297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32579" y="3102011"/>
            <a:ext cx="227686" cy="2276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58020" y="3033705"/>
            <a:ext cx="53127" cy="356707"/>
          </a:xfrm>
          <a:prstGeom prst="rect">
            <a:avLst>
              <a:gd name="adj" fmla="val 29259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81696" y="3033705"/>
            <a:ext cx="53127" cy="356707"/>
          </a:xfrm>
          <a:prstGeom prst="rect">
            <a:avLst>
              <a:gd name="adj" fmla="val 29259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04504" y="3968496"/>
            <a:ext cx="28712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영양지원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04504" y="457200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도시락 배달 등 식생활 지원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3044952" y="5724144"/>
            <a:ext cx="6080760" cy="475488"/>
          </a:xfrm>
          <a:prstGeom prst="roundRect">
            <a:avLst>
              <a:gd name="adj" fmla="val 32692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36392" y="573328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지원  ·  더 안정적인 지역사회 생활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주거·지역자원 연계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주거 안전과 지역 내 돌봄 연결을 함께 지원합니다.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77240" y="2313432"/>
            <a:ext cx="5001768" cy="1307592"/>
          </a:xfrm>
          <a:prstGeom prst="roundRect">
            <a:avLst>
              <a:gd name="adj" fmla="val 11888"/>
            </a:avLst>
          </a:prstGeom>
          <a:solidFill>
            <a:srgbClr val="E7F5F2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560320"/>
            <a:ext cx="594360" cy="384048"/>
          </a:xfrm>
          <a:prstGeom prst="roundRect">
            <a:avLst>
              <a:gd name="adj" fmla="val 40476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694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1847088" y="2523744"/>
            <a:ext cx="3630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주거환경개선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856232" y="3063240"/>
            <a:ext cx="3630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안의 안전·편의 환경 보완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464808" y="2313432"/>
            <a:ext cx="5001768" cy="1307592"/>
          </a:xfrm>
          <a:prstGeom prst="roundRect">
            <a:avLst>
              <a:gd name="adj" fmla="val 11888"/>
            </a:avLst>
          </a:prstGeom>
          <a:solidFill>
            <a:srgbClr val="EEF4FA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3408" y="2560320"/>
            <a:ext cx="594360" cy="384048"/>
          </a:xfrm>
          <a:prstGeom prst="roundRect">
            <a:avLst>
              <a:gd name="adj" fmla="val 40476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5694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7534656" y="2523744"/>
            <a:ext cx="3630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웰빙홈컨설팅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43800" y="3063240"/>
            <a:ext cx="3630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안전하고 편리한 주거환경 상담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777240" y="3867912"/>
            <a:ext cx="5001768" cy="1307592"/>
          </a:xfrm>
          <a:prstGeom prst="roundRect">
            <a:avLst>
              <a:gd name="adj" fmla="val 11888"/>
            </a:avLst>
          </a:prstGeom>
          <a:solidFill>
            <a:srgbClr val="E7F5F2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114800"/>
            <a:ext cx="594360" cy="384048"/>
          </a:xfrm>
          <a:prstGeom prst="roundRect">
            <a:avLst>
              <a:gd name="adj" fmla="val 40476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123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1847088" y="4078224"/>
            <a:ext cx="3630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천안시통합돌봄센터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856232" y="4617720"/>
            <a:ext cx="3630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돌봄서비스 상담·연계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464808" y="3867912"/>
            <a:ext cx="5001768" cy="1307592"/>
          </a:xfrm>
          <a:prstGeom prst="roundRect">
            <a:avLst>
              <a:gd name="adj" fmla="val 11888"/>
            </a:avLst>
          </a:prstGeom>
          <a:solidFill>
            <a:srgbClr val="EEF4FA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93408" y="4114800"/>
            <a:ext cx="594360" cy="384048"/>
          </a:xfrm>
          <a:prstGeom prst="roundRect">
            <a:avLst>
              <a:gd name="adj" fmla="val 40476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4123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70" dirty="0"/>
          </a:p>
        </p:txBody>
      </p:sp>
      <p:sp>
        <p:nvSpPr>
          <p:cNvPr id="28" name="Text 26"/>
          <p:cNvSpPr/>
          <p:nvPr/>
        </p:nvSpPr>
        <p:spPr>
          <a:xfrm>
            <a:off x="7534656" y="4078224"/>
            <a:ext cx="3630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중간집(케어안심주택)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543800" y="4617720"/>
            <a:ext cx="3630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돌봄과 주거의 연계 지원</a:t>
            </a:r>
            <a:endParaRPr lang="en-US" sz="1310" dirty="0"/>
          </a:p>
        </p:txBody>
      </p:sp>
      <p:sp>
        <p:nvSpPr>
          <p:cNvPr id="30" name="Text 28"/>
          <p:cNvSpPr/>
          <p:nvPr/>
        </p:nvSpPr>
        <p:spPr>
          <a:xfrm>
            <a:off x="804672" y="5833872"/>
            <a:ext cx="106344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주거·센터 관련 명칭과 운영 방식은 실제 사업 현황 기준 최종 확인 필요</a:t>
            </a:r>
            <a:endParaRPr lang="en-US" sz="11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6868"/>
          </a:xfrm>
          <a:prstGeom prst="rect">
            <a:avLst>
              <a:gd name="adj" fmla="val 178947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CHEONAN · 의료요양 통합돌봄</a:t>
            </a:r>
            <a:endParaRPr lang="en-US" sz="104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10927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10853928" cy="566928"/>
          </a:xfrm>
          <a:prstGeom prst="roundRect">
            <a:avLst>
              <a:gd name="adj" fmla="val 2741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517904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9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시민의 자립과 가족의 안심, 지역 돌봄의 연결을 높입니다.</a:t>
            </a:r>
            <a:endParaRPr lang="en-US" sz="1690" dirty="0"/>
          </a:p>
        </p:txBody>
      </p:sp>
      <p:sp>
        <p:nvSpPr>
          <p:cNvPr id="7" name="Shape 5"/>
          <p:cNvSpPr/>
          <p:nvPr/>
        </p:nvSpPr>
        <p:spPr>
          <a:xfrm>
            <a:off x="658368" y="6464808"/>
            <a:ext cx="10863072" cy="10973"/>
          </a:xfrm>
          <a:prstGeom prst="rect">
            <a:avLst>
              <a:gd name="adj" fmla="val 1416641"/>
            </a:avLst>
          </a:prstGeom>
          <a:solidFill>
            <a:srgbClr val="DFE9E9"/>
          </a:solidFill>
          <a:ln w="12700">
            <a:solidFill>
              <a:srgbClr val="DFE9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37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863072" y="651967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10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722376" y="2423160"/>
            <a:ext cx="3383280" cy="2862072"/>
          </a:xfrm>
          <a:prstGeom prst="roundRect">
            <a:avLst>
              <a:gd name="adj" fmla="val 5431"/>
            </a:avLst>
          </a:prstGeom>
          <a:solidFill>
            <a:srgbClr val="E7F5F2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9229" y="2823667"/>
            <a:ext cx="296266" cy="296266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6117" y="2823667"/>
            <a:ext cx="296266" cy="296266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2067458" y="2963570"/>
            <a:ext cx="534924" cy="452628"/>
          </a:xfrm>
          <a:prstGeom prst="triangl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49040"/>
            <a:ext cx="2779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3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시민의 변화</a:t>
            </a:r>
            <a:endParaRPr lang="en-US" sz="2230" dirty="0"/>
          </a:p>
        </p:txBody>
      </p:sp>
      <p:sp>
        <p:nvSpPr>
          <p:cNvPr id="15" name="Text 13"/>
          <p:cNvSpPr/>
          <p:nvPr/>
        </p:nvSpPr>
        <p:spPr>
          <a:xfrm>
            <a:off x="923544" y="4279392"/>
            <a:ext cx="2980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유지와 일상 기능 지원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1472184" y="4809744"/>
            <a:ext cx="1883664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63624" y="481888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건강·자립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4507992" y="2423160"/>
            <a:ext cx="3383280" cy="2862072"/>
          </a:xfrm>
          <a:prstGeom prst="roundRect">
            <a:avLst>
              <a:gd name="adj" fmla="val 5431"/>
            </a:avLst>
          </a:prstGeom>
          <a:solidFill>
            <a:srgbClr val="EEF4FA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5779008" y="2724912"/>
            <a:ext cx="641909" cy="715975"/>
          </a:xfrm>
          <a:prstGeom prst="pentagon">
            <a:avLst/>
          </a:prstGeom>
          <a:solidFill>
            <a:srgbClr val="148A8B"/>
          </a:solidFill>
          <a:ln w="12700">
            <a:solidFill>
              <a:srgbClr val="148A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8911" y="2889504"/>
            <a:ext cx="370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340" dirty="0"/>
          </a:p>
        </p:txBody>
      </p:sp>
      <p:sp>
        <p:nvSpPr>
          <p:cNvPr id="21" name="Text 19"/>
          <p:cNvSpPr/>
          <p:nvPr/>
        </p:nvSpPr>
        <p:spPr>
          <a:xfrm>
            <a:off x="4809744" y="3749040"/>
            <a:ext cx="2779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3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가족의 변화</a:t>
            </a:r>
            <a:endParaRPr lang="en-US" sz="2230" dirty="0"/>
          </a:p>
        </p:txBody>
      </p:sp>
      <p:sp>
        <p:nvSpPr>
          <p:cNvPr id="22" name="Text 20"/>
          <p:cNvSpPr/>
          <p:nvPr/>
        </p:nvSpPr>
        <p:spPr>
          <a:xfrm>
            <a:off x="4709160" y="4279392"/>
            <a:ext cx="2980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 부담을 덜고 생활 안정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5257800" y="4809744"/>
            <a:ext cx="1883664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481888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안심·연속성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8293608" y="2423160"/>
            <a:ext cx="3383280" cy="2862072"/>
          </a:xfrm>
          <a:prstGeom prst="roundRect">
            <a:avLst>
              <a:gd name="adj" fmla="val 5431"/>
            </a:avLst>
          </a:prstGeom>
          <a:solidFill>
            <a:srgbClr val="FAF1E7"/>
          </a:solidFill>
          <a:ln w="12700">
            <a:solidFill>
              <a:srgbClr val="DFE9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72854" y="2840126"/>
            <a:ext cx="197510" cy="19751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66630" y="2840126"/>
            <a:ext cx="197510" cy="197510"/>
          </a:xfrm>
          <a:prstGeom prst="ellipse">
            <a:avLst/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78594" y="2947111"/>
            <a:ext cx="279806" cy="0"/>
          </a:xfrm>
          <a:prstGeom prst="line">
            <a:avLst/>
          </a:prstGeom>
          <a:noFill/>
          <a:ln w="38100">
            <a:solidFill>
              <a:srgbClr val="148A8B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595360" y="3749040"/>
            <a:ext cx="2779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3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지역의 변화</a:t>
            </a:r>
            <a:endParaRPr lang="en-US" sz="2230" dirty="0"/>
          </a:p>
        </p:txBody>
      </p:sp>
      <p:sp>
        <p:nvSpPr>
          <p:cNvPr id="30" name="Text 28"/>
          <p:cNvSpPr/>
          <p:nvPr/>
        </p:nvSpPr>
        <p:spPr>
          <a:xfrm>
            <a:off x="8494776" y="4279392"/>
            <a:ext cx="29809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중복·누락을 줄이는 연계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9043416" y="4809744"/>
            <a:ext cx="1883664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34856" y="481888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통합·효율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2880360" y="5760720"/>
            <a:ext cx="6473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기대효과는 정책 추진 목표에 근거한 정성적 전망입니다.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>
              <a:gd name="adj" fmla="val 113333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585216"/>
            <a:ext cx="3886200" cy="3886200"/>
          </a:xfrm>
          <a:prstGeom prst="ellipse">
            <a:avLst/>
          </a:prstGeom>
          <a:solidFill>
            <a:srgbClr val="E9F6F2"/>
          </a:solidFill>
          <a:ln w="12700">
            <a:solidFill>
              <a:srgbClr val="E9F6F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83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spc="90" kern="0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천안시 의료요양 통합돌봄 사업</a:t>
            </a:r>
            <a:endParaRPr lang="en-US" sz="104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367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살던 곳에서</a:t>
            </a:r>
            <a:endParaRPr lang="en-US" sz="367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3670" b="1" dirty="0">
                <a:solidFill>
                  <a:srgbClr val="1736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누리는 건강한 삶</a:t>
            </a:r>
            <a:endParaRPr lang="en-US" sz="3670" dirty="0"/>
          </a:p>
        </p:txBody>
      </p:sp>
      <p:sp>
        <p:nvSpPr>
          <p:cNvPr id="6" name="Shape 4"/>
          <p:cNvSpPr/>
          <p:nvPr/>
        </p:nvSpPr>
        <p:spPr>
          <a:xfrm>
            <a:off x="740664" y="3346704"/>
            <a:ext cx="731520" cy="54864"/>
          </a:xfrm>
          <a:prstGeom prst="rect">
            <a:avLst>
              <a:gd name="adj" fmla="val 283333"/>
            </a:avLst>
          </a:prstGeom>
          <a:solidFill>
            <a:srgbClr val="148A8B"/>
          </a:solidFill>
          <a:ln w="12700">
            <a:solidFill>
              <a:srgbClr val="148A8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694176"/>
            <a:ext cx="4727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10" b="1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의료·요양·돌봄이 이어지는</a:t>
            </a:r>
            <a:endParaRPr lang="en-US" sz="2010" dirty="0"/>
          </a:p>
          <a:p>
            <a:pPr algn="l" indent="0" marL="0">
              <a:buNone/>
            </a:pPr>
            <a:r>
              <a:rPr lang="en-US" sz="2010" b="1" dirty="0">
                <a:solidFill>
                  <a:srgbClr val="2537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천안형 통합돌봄을 추진합니다.</a:t>
            </a:r>
            <a:endParaRPr lang="en-US" sz="2010" dirty="0"/>
          </a:p>
        </p:txBody>
      </p:sp>
      <p:sp>
        <p:nvSpPr>
          <p:cNvPr id="8" name="Shape 6"/>
          <p:cNvSpPr/>
          <p:nvPr/>
        </p:nvSpPr>
        <p:spPr>
          <a:xfrm>
            <a:off x="758952" y="5458968"/>
            <a:ext cx="4069080" cy="557784"/>
          </a:xfrm>
          <a:prstGeom prst="roundRect">
            <a:avLst>
              <a:gd name="adj" fmla="val 27869"/>
            </a:avLst>
          </a:prstGeom>
          <a:solidFill>
            <a:srgbClr val="E7F5F2"/>
          </a:solidFill>
          <a:ln w="12700">
            <a:solidFill>
              <a:srgbClr val="E7F5F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5468112"/>
            <a:ext cx="3886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0F6C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돌보는 천안, 이어지는 일상</a:t>
            </a:r>
            <a:endParaRPr lang="en-US" sz="1570" dirty="0"/>
          </a:p>
        </p:txBody>
      </p:sp>
      <p:pic>
        <p:nvPicPr>
          <p:cNvPr id="10" name="Image 0" descr="/mnt/data/wide_bright_cheerful_indoor_community_care_mo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1225296"/>
            <a:ext cx="6729984" cy="5047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863072" y="6528816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40" dirty="0">
                <a:solidFill>
                  <a:srgbClr val="657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천안시 의료요양 통합돌봄 사업 | 10장 보고용</dc:title>
  <dc:subject>천안시 의료요양 통합돌봄 사업 소개(공무원 보고용)</dc:subject>
  <dc:creator>OpenAI</dc:creator>
  <cp:lastModifiedBy>OpenAI</cp:lastModifiedBy>
  <cp:revision>1</cp:revision>
  <dcterms:created xsi:type="dcterms:W3CDTF">2026-10-30T06:13:15Z</dcterms:created>
  <dcterms:modified xsi:type="dcterms:W3CDTF">2026-10-30T06:13:15Z</dcterms:modified>
</cp:coreProperties>
</file>